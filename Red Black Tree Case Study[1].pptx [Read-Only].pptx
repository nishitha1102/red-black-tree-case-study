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5" r:id="rId2"/>
    <p:sldId id="310" r:id="rId3"/>
    <p:sldId id="321" r:id="rId4"/>
    <p:sldId id="322" r:id="rId5"/>
    <p:sldId id="323" r:id="rId6"/>
    <p:sldId id="324" r:id="rId7"/>
    <p:sldId id="326" r:id="rId8"/>
    <p:sldId id="327" r:id="rId9"/>
    <p:sldId id="328" r:id="rId10"/>
    <p:sldId id="330" r:id="rId11"/>
    <p:sldId id="331" r:id="rId12"/>
    <p:sldId id="332" r:id="rId13"/>
    <p:sldId id="333" r:id="rId14"/>
    <p:sldId id="334" r:id="rId15"/>
    <p:sldId id="336" r:id="rId16"/>
    <p:sldId id="335" r:id="rId17"/>
    <p:sldId id="337" r:id="rId18"/>
    <p:sldId id="338" r:id="rId19"/>
    <p:sldId id="339" r:id="rId20"/>
    <p:sldId id="341" r:id="rId21"/>
    <p:sldId id="340" r:id="rId22"/>
    <p:sldId id="342" r:id="rId23"/>
  </p:sldIdLst>
  <p:sldSz cx="12188825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9" autoAdjust="0"/>
  </p:normalViewPr>
  <p:slideViewPr>
    <p:cSldViewPr showGuides="1">
      <p:cViewPr varScale="1">
        <p:scale>
          <a:sx n="91" d="100"/>
          <a:sy n="91" d="100"/>
        </p:scale>
        <p:origin x="322" y="77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11/29/2025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11/29/2025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11/29/2025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11/29/2025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 Black Tree Case Study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UICTFontTextStyleEmphasizedBody"/>
              </a:rPr>
              <a:t>What is a Red-Black Tree?</a:t>
            </a:r>
            <a:br>
              <a:rPr lang="en-IN" dirty="0">
                <a:latin typeface=".AppleSystemUIFont"/>
              </a:rPr>
            </a:b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UICTFontTextStyleBody"/>
              </a:rPr>
              <a:t>• A Red-Black Tree (RBT) is a </a:t>
            </a:r>
            <a:r>
              <a:rPr lang="en-IN" b="1" dirty="0">
                <a:latin typeface="UICTFontTextStyleEmphasizedBody"/>
              </a:rPr>
              <a:t>self-balancing Binary Search Tree (BST)</a:t>
            </a:r>
            <a:r>
              <a:rPr lang="en-IN" dirty="0">
                <a:latin typeface="UICTFontTextStyleBody"/>
              </a:rPr>
              <a:t>.</a:t>
            </a:r>
            <a:endParaRPr lang="en-IN" dirty="0">
              <a:latin typeface=".AppleSystemUIFont"/>
            </a:endParaRPr>
          </a:p>
          <a:p>
            <a:r>
              <a:rPr lang="en-IN" dirty="0">
                <a:latin typeface="UICTFontTextStyleBody"/>
              </a:rPr>
              <a:t>• Each node has an extra bit for </a:t>
            </a:r>
            <a:r>
              <a:rPr lang="en-IN" b="1" dirty="0" err="1">
                <a:latin typeface="UICTFontTextStyleEmphasizedBody"/>
              </a:rPr>
              <a:t>color</a:t>
            </a:r>
            <a:r>
              <a:rPr lang="en-IN" b="1" dirty="0">
                <a:latin typeface="UICTFontTextStyleEmphasizedBody"/>
              </a:rPr>
              <a:t> (Red or Black)</a:t>
            </a:r>
            <a:r>
              <a:rPr lang="en-IN" dirty="0">
                <a:latin typeface="UICTFontTextStyleBody"/>
              </a:rPr>
              <a:t>.</a:t>
            </a:r>
            <a:endParaRPr lang="en-IN" dirty="0">
              <a:latin typeface=".AppleSystemUIFont"/>
            </a:endParaRPr>
          </a:p>
          <a:p>
            <a:r>
              <a:rPr lang="en-IN" dirty="0">
                <a:latin typeface="UICTFontTextStyleBody"/>
              </a:rPr>
              <a:t>• Ensures operations like insertion, deletion, and search take </a:t>
            </a:r>
            <a:r>
              <a:rPr lang="en-IN" b="1" dirty="0">
                <a:latin typeface="UICTFontTextStyleEmphasizedBody"/>
              </a:rPr>
              <a:t>O(log n)</a:t>
            </a:r>
            <a:r>
              <a:rPr lang="en-IN" dirty="0">
                <a:latin typeface="UICTFontTextStyleBody"/>
              </a:rPr>
              <a:t> time.</a:t>
            </a:r>
            <a:endParaRPr lang="en-IN" dirty="0">
              <a:latin typeface=".AppleSystemUIFont"/>
            </a:endParaRPr>
          </a:p>
          <a:p>
            <a:r>
              <a:rPr lang="en-IN" dirty="0">
                <a:latin typeface="UICTFontTextStyleBody"/>
              </a:rPr>
              <a:t>• Maintains approximate balance using </a:t>
            </a:r>
            <a:r>
              <a:rPr lang="en-IN" b="1" dirty="0" err="1">
                <a:latin typeface="UICTFontTextStyleEmphasizedBody"/>
              </a:rPr>
              <a:t>color</a:t>
            </a:r>
            <a:r>
              <a:rPr lang="en-IN" b="1" dirty="0">
                <a:latin typeface="UICTFontTextStyleEmphasizedBody"/>
              </a:rPr>
              <a:t> properties and rotations</a:t>
            </a:r>
            <a:r>
              <a:rPr lang="en-IN" dirty="0">
                <a:latin typeface="UICTFontTextStyleBody"/>
              </a:rPr>
              <a:t>.</a:t>
            </a:r>
            <a:endParaRPr lang="en-IN" dirty="0">
              <a:latin typeface=".AppleSystemUIFont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D1D2-C4AD-DADE-3DDA-5C52F66BC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224" y="1528497"/>
            <a:ext cx="5744377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573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5E73-2899-9DA9-568F-7C544DBB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UICTFontTextStyleEmphasizedBody"/>
              </a:rPr>
              <a:t>                Need for Balancing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C227B-3B42-B547-68CC-69135A0A0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UICTFontTextStyleBody"/>
              </a:rPr>
              <a:t>Normal BST can become </a:t>
            </a:r>
            <a:r>
              <a:rPr lang="en-IN" b="1" dirty="0">
                <a:latin typeface="UICTFontTextStyleEmphasizedBody"/>
              </a:rPr>
              <a:t>unbalanced</a:t>
            </a:r>
            <a:r>
              <a:rPr lang="en-IN" dirty="0">
                <a:latin typeface="UICTFontTextStyleBody"/>
              </a:rPr>
              <a:t> (like a linked list).</a:t>
            </a:r>
            <a:endParaRPr lang="en-IN" dirty="0">
              <a:latin typeface=".AppleSystemUIFont"/>
            </a:endParaRPr>
          </a:p>
          <a:p>
            <a:r>
              <a:rPr lang="en-IN" dirty="0">
                <a:latin typeface="UICTFontTextStyleBody"/>
              </a:rPr>
              <a:t>• Causes poor performance — </a:t>
            </a:r>
            <a:r>
              <a:rPr lang="en-IN" b="1" dirty="0">
                <a:latin typeface="UICTFontTextStyleEmphasizedBody"/>
              </a:rPr>
              <a:t>O(n)</a:t>
            </a:r>
            <a:r>
              <a:rPr lang="en-IN" dirty="0">
                <a:latin typeface="UICTFontTextStyleBody"/>
              </a:rPr>
              <a:t> time complexity.</a:t>
            </a:r>
            <a:endParaRPr lang="en-IN" dirty="0">
              <a:latin typeface=".AppleSystemUIFont"/>
            </a:endParaRPr>
          </a:p>
          <a:p>
            <a:r>
              <a:rPr lang="en-IN" dirty="0">
                <a:latin typeface="UICTFontTextStyleBody"/>
              </a:rPr>
              <a:t>• RBT automatically adjusts structure to remain balanced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128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A92F-D814-1925-1EB4-77FF3517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535832"/>
          </a:xfrm>
        </p:spPr>
        <p:txBody>
          <a:bodyPr/>
          <a:lstStyle/>
          <a:p>
            <a:r>
              <a:rPr lang="en-IN" b="1" dirty="0">
                <a:latin typeface="UICTFontTextStyleEmphasizedBody"/>
              </a:rPr>
              <a:t>Comparison with AVL Tree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D03EFB-8E62-84BC-113D-85E6C636E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238" y="2332349"/>
            <a:ext cx="9134475" cy="371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CA19-69A5-3858-D775-4D1FB1DC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br>
              <a:rPr lang="en-IN" dirty="0"/>
            </a:br>
            <a:r>
              <a:rPr lang="en-IN" dirty="0"/>
              <a:t>                  </a:t>
            </a:r>
            <a:r>
              <a:rPr lang="en-US" dirty="0"/>
              <a:t>NODES STRUCTURE’S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D185-9563-4AD3-C669-02AB4D258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node in a Red-Black Tree stores data and extra information to help the tree stay balanced.</a:t>
            </a:r>
          </a:p>
          <a:p>
            <a:r>
              <a:rPr lang="en-US" b="1" dirty="0"/>
              <a:t>Key / Value</a:t>
            </a:r>
            <a:r>
              <a:rPr lang="en-US" dirty="0"/>
              <a:t> → The actual data stored in the node</a:t>
            </a:r>
          </a:p>
          <a:p>
            <a:r>
              <a:rPr lang="en-US" b="1" dirty="0"/>
              <a:t>Color Bit</a:t>
            </a:r>
            <a:r>
              <a:rPr lang="en-US" dirty="0"/>
              <a:t> → Indicates whether the node is </a:t>
            </a:r>
            <a:r>
              <a:rPr lang="en-US" b="1" dirty="0"/>
              <a:t>Red</a:t>
            </a:r>
            <a:r>
              <a:rPr lang="en-US" dirty="0"/>
              <a:t> or </a:t>
            </a:r>
            <a:r>
              <a:rPr lang="en-US" b="1" dirty="0"/>
              <a:t>Black</a:t>
            </a:r>
          </a:p>
          <a:p>
            <a:r>
              <a:rPr lang="en-US" b="1" dirty="0"/>
              <a:t>Left Child Pointer</a:t>
            </a:r>
            <a:r>
              <a:rPr lang="en-US" dirty="0"/>
              <a:t> → Points to the left subtree</a:t>
            </a:r>
          </a:p>
          <a:p>
            <a:r>
              <a:rPr lang="en-US" b="1" dirty="0"/>
              <a:t>Right Child Pointer</a:t>
            </a:r>
            <a:r>
              <a:rPr lang="en-US" dirty="0"/>
              <a:t> → Points to the right subtree</a:t>
            </a:r>
          </a:p>
          <a:p>
            <a:r>
              <a:rPr lang="en-US" b="1" dirty="0"/>
              <a:t>Parent Pointer</a:t>
            </a:r>
            <a:r>
              <a:rPr lang="en-US" dirty="0"/>
              <a:t> → Helps navigate upward during rotations and fixes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87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AFA845-7655-0400-F5D0-0B3A7013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224" y="1137918"/>
            <a:ext cx="6106377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13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09B8-3691-C902-CA7D-A88CBA04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Bahnschrift" panose="020B0502040204020203" pitchFamily="34" charset="0"/>
              </a:rPr>
              <a:t>Key Properties Of </a:t>
            </a:r>
            <a:r>
              <a:rPr lang="en-US" dirty="0">
                <a:solidFill>
                  <a:srgbClr val="FF0000"/>
                </a:solidFill>
                <a:latin typeface="Bahnschrift" panose="020B0502040204020203" pitchFamily="34" charset="0"/>
              </a:rPr>
              <a:t>Red</a:t>
            </a:r>
            <a:r>
              <a:rPr lang="en-US" dirty="0">
                <a:latin typeface="Bahnschrift" panose="020B0502040204020203" pitchFamily="34" charset="0"/>
              </a:rPr>
              <a:t> Black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6ACF6-B16C-2A08-877D-B8786B3B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Red </a:t>
            </a:r>
            <a:r>
              <a:rPr lang="en-US" b="1" dirty="0"/>
              <a:t>- Black Tree</a:t>
            </a:r>
            <a:r>
              <a:rPr lang="en-US" dirty="0"/>
              <a:t> is a type of self-balancing binary search tree that follows specific color rules to maintain balance after insertions and deletions.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node is either Red or Black.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Root node is always Black.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NIL (leaf) nodes are Black.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 node is Red, then both its children are Black (no two reds in a row).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Every path from a node to its descendant NIL nodes has the same number of Black nodes (called Black Height).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95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6589-2C17-7C59-0327-3D1C1C8D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            Black Height Concept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25AD-8F09-0167-53F7-C836DDD24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 </a:t>
            </a:r>
            <a:r>
              <a:rPr lang="en-US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Definition:</a:t>
            </a:r>
          </a:p>
          <a:p>
            <a:b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</a:br>
            <a: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Black Height = Number of black nodes on any path from a node to a NIL (leaf) node.</a:t>
            </a:r>
          </a:p>
          <a:p>
            <a:r>
              <a:rPr lang="en-US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Balance Indicator:</a:t>
            </a:r>
          </a:p>
          <a:p>
            <a:pPr marL="0" indent="0">
              <a:buNone/>
            </a:pPr>
            <a:b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</a:br>
            <a: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 Every path from the root to NIL has the same black height, ensuring uniform depth.</a:t>
            </a:r>
          </a:p>
          <a:p>
            <a:r>
              <a:rPr lang="en-US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Why It Matters:</a:t>
            </a:r>
          </a:p>
          <a:p>
            <a:b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</a:br>
            <a: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 This rule keeps the tree approximately balanced, giving efficient operations in O(log₂ n) time.</a:t>
            </a:r>
          </a:p>
          <a:p>
            <a:r>
              <a:rPr lang="en-US" b="1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 Visual Intuition:</a:t>
            </a:r>
          </a:p>
          <a:p>
            <a:b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</a:br>
            <a: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 Imagine counting black beads along each root-to-leaf path —</a:t>
            </a:r>
            <a:b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</a:br>
            <a:r>
              <a:rPr lang="en-US" dirty="0">
                <a:latin typeface="Amiri" panose="00000500000000000000" pitchFamily="2" charset="-78"/>
                <a:ea typeface="Amiri" panose="00000500000000000000" pitchFamily="2" charset="-78"/>
                <a:cs typeface="Amiri" panose="00000500000000000000" pitchFamily="2" charset="-78"/>
              </a:rPr>
              <a:t> each path must have the same number, keeping the tree steady and fair!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490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80A19-376F-7ACF-17F3-04866E84F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887760"/>
          </a:xfrm>
        </p:spPr>
        <p:txBody>
          <a:bodyPr/>
          <a:lstStyle/>
          <a:p>
            <a:r>
              <a:rPr lang="en-US" dirty="0"/>
              <a:t>             Validity of  Red – Black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B36F9-DAFE-322F-410C-70BF2CF906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b="1" dirty="0"/>
              <a:t>               Valid RBT</a:t>
            </a:r>
          </a:p>
          <a:p>
            <a:r>
              <a:rPr lang="en-US" dirty="0"/>
              <a:t>Ensures efficient and balanced search performance</a:t>
            </a:r>
          </a:p>
          <a:p>
            <a:r>
              <a:rPr lang="en-US" dirty="0"/>
              <a:t>No two consecutive red nodes</a:t>
            </a:r>
          </a:p>
          <a:p>
            <a:r>
              <a:rPr lang="en-US" dirty="0"/>
              <a:t>Equal </a:t>
            </a:r>
            <a:r>
              <a:rPr lang="en-US" b="1" dirty="0"/>
              <a:t>black height</a:t>
            </a:r>
            <a:r>
              <a:rPr lang="en-US" dirty="0"/>
              <a:t> on all root-to-leaf paths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2404E-AB15-E728-720A-9DDB235248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                      In Valid RBT</a:t>
            </a:r>
          </a:p>
          <a:p>
            <a:r>
              <a:rPr lang="en-US" dirty="0"/>
              <a:t>Two red nodes in a row (violates property 4)</a:t>
            </a:r>
          </a:p>
          <a:p>
            <a:r>
              <a:rPr lang="en-US" dirty="0"/>
              <a:t> Unequal black height across paths (violates property 5)</a:t>
            </a:r>
          </a:p>
          <a:p>
            <a:r>
              <a:rPr lang="en-US" dirty="0"/>
              <a:t>Root not black, or leaf NILs not black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19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FAFEC-2EA1-1FCB-9E7D-66CCC7FE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599728"/>
          </a:xfrm>
        </p:spPr>
        <p:txBody>
          <a:bodyPr/>
          <a:lstStyle/>
          <a:p>
            <a:r>
              <a:rPr lang="en-IN" dirty="0"/>
              <a:t>           Red-Black Tree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4654-8550-EA08-2765-340264D8D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6" y="980728"/>
            <a:ext cx="10729191" cy="549627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Search:</a:t>
            </a:r>
          </a:p>
          <a:p>
            <a:r>
              <a:rPr lang="en-US" dirty="0"/>
              <a:t>  Works like a Binary Search Tree (BST).</a:t>
            </a:r>
          </a:p>
          <a:p>
            <a:r>
              <a:rPr lang="en-US" dirty="0"/>
              <a:t> Example: Traverses left or right until found or null.</a:t>
            </a:r>
          </a:p>
          <a:p>
            <a:r>
              <a:rPr lang="en-US" dirty="0"/>
              <a:t>- Complexity: O(log n)</a:t>
            </a:r>
          </a:p>
          <a:p>
            <a:endParaRPr lang="en-US" dirty="0"/>
          </a:p>
          <a:p>
            <a:r>
              <a:rPr lang="en-US" dirty="0"/>
              <a:t> 2. Insert:</a:t>
            </a:r>
          </a:p>
          <a:p>
            <a:r>
              <a:rPr lang="en-US" dirty="0"/>
              <a:t>Insert new node like BST, color it red.</a:t>
            </a:r>
          </a:p>
          <a:p>
            <a:r>
              <a:rPr lang="en-US" dirty="0"/>
              <a:t>  Fix violations using recoloring or rotations.</a:t>
            </a:r>
          </a:p>
          <a:p>
            <a:r>
              <a:rPr lang="en-US" dirty="0"/>
              <a:t>  Complexity: O(log n)</a:t>
            </a:r>
          </a:p>
          <a:p>
            <a:endParaRPr lang="en-US" dirty="0"/>
          </a:p>
          <a:p>
            <a:r>
              <a:rPr lang="en-US" dirty="0"/>
              <a:t>3. Delete:</a:t>
            </a:r>
          </a:p>
          <a:p>
            <a:r>
              <a:rPr lang="en-US" dirty="0"/>
              <a:t>  Perform standard BST delete.</a:t>
            </a:r>
          </a:p>
          <a:p>
            <a:r>
              <a:rPr lang="en-US" dirty="0"/>
              <a:t>Fix double-black or color violations using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086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93E46-94C1-77D7-69D5-59B47FB0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023" y="0"/>
            <a:ext cx="9134391" cy="908720"/>
          </a:xfrm>
        </p:spPr>
        <p:txBody>
          <a:bodyPr>
            <a:normAutofit/>
          </a:bodyPr>
          <a:lstStyle/>
          <a:p>
            <a:r>
              <a:rPr lang="en-US" sz="2800" dirty="0"/>
              <a:t>          Tree Rotations in Red-Black Trees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A102D-E7C9-A891-9206-1306D3C3D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772" y="980728"/>
            <a:ext cx="11521279" cy="561662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  </a:t>
            </a:r>
            <a:r>
              <a:rPr lang="en-US" sz="2900" dirty="0"/>
              <a:t>Explain how left and right rotations help maintain the Red-Black Tree balance.</a:t>
            </a:r>
          </a:p>
          <a:p>
            <a:r>
              <a:rPr lang="en-US" sz="2900" dirty="0"/>
              <a:t> 1. Left Rotation:</a:t>
            </a:r>
          </a:p>
          <a:p>
            <a:r>
              <a:rPr lang="en-US" sz="2900" dirty="0"/>
              <a:t> Used when a right-heavy subtree causes imbalance.</a:t>
            </a:r>
          </a:p>
          <a:p>
            <a:r>
              <a:rPr lang="en-US" sz="2900" dirty="0"/>
              <a:t> The parent node moves left, and the right child becomes the new parent.</a:t>
            </a:r>
          </a:p>
          <a:p>
            <a:endParaRPr lang="en-US" sz="2900" dirty="0"/>
          </a:p>
          <a:p>
            <a:r>
              <a:rPr lang="en-US" sz="2900" dirty="0"/>
              <a:t> 2. Right Rotation:</a:t>
            </a:r>
          </a:p>
          <a:p>
            <a:r>
              <a:rPr lang="en-US" sz="2900" dirty="0"/>
              <a:t> Used when a left-heavy subtree causes imbalance.</a:t>
            </a:r>
          </a:p>
          <a:p>
            <a:r>
              <a:rPr lang="en-US" sz="2900" dirty="0"/>
              <a:t> The parent node moves right, and the left child becomes the new parent.</a:t>
            </a:r>
          </a:p>
          <a:p>
            <a:pPr marL="0" indent="0">
              <a:buNone/>
            </a:pPr>
            <a:endParaRPr lang="en-US" sz="2900" dirty="0"/>
          </a:p>
          <a:p>
            <a:r>
              <a:rPr lang="en-US" sz="2900" dirty="0"/>
              <a:t>How Rotations Maintain BST Property:</a:t>
            </a:r>
          </a:p>
          <a:p>
            <a:r>
              <a:rPr lang="en-US" sz="2900" dirty="0"/>
              <a:t>They rearrange the tree locally without changing the in-order sequence of nodes.</a:t>
            </a:r>
          </a:p>
          <a:p>
            <a:r>
              <a:rPr lang="en-US" sz="2900" dirty="0"/>
              <a:t>Hence, the Binary Search Tree (BST) property remains intact.</a:t>
            </a:r>
          </a:p>
          <a:p>
            <a:endParaRPr lang="en-US" sz="2900" dirty="0"/>
          </a:p>
          <a:p>
            <a:r>
              <a:rPr lang="en-US" sz="2900" dirty="0"/>
              <a:t> Note: </a:t>
            </a:r>
          </a:p>
          <a:p>
            <a:r>
              <a:rPr lang="en-US" sz="2900" dirty="0"/>
              <a:t>Rotations are the building blocks of rebalancing during insertion and deletion</a:t>
            </a:r>
            <a:endParaRPr lang="en-IN" sz="2900" dirty="0"/>
          </a:p>
        </p:txBody>
      </p:sp>
    </p:spTree>
    <p:extLst>
      <p:ext uri="{BB962C8B-B14F-4D97-AF65-F5344CB8AC3E}">
        <p14:creationId xmlns:p14="http://schemas.microsoft.com/office/powerpoint/2010/main" val="141845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A19B7-ABF8-AD2F-6436-0B556E56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240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3D1736-570E-460A-59A0-604BBD653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04" y="0"/>
            <a:ext cx="6166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4F33-9617-2257-58D5-871C85E4E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-171400"/>
            <a:ext cx="9144001" cy="936104"/>
          </a:xfrm>
        </p:spPr>
        <p:txBody>
          <a:bodyPr/>
          <a:lstStyle/>
          <a:p>
            <a:r>
              <a:rPr lang="en-US" dirty="0"/>
              <a:t>       </a:t>
            </a:r>
            <a:r>
              <a:rPr lang="en-US" sz="3200" dirty="0"/>
              <a:t>Fixing Violations in Red-Black Trees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97BE0-05E2-1B55-A1D3-585C6687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56" y="908720"/>
            <a:ext cx="11593287" cy="59046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600" dirty="0"/>
              <a:t>Show step-by-step how violations are corrected after insertion or deletion.</a:t>
            </a:r>
          </a:p>
          <a:p>
            <a:pPr marL="0" indent="0">
              <a:buNone/>
            </a:pPr>
            <a:r>
              <a:rPr lang="en-US" sz="2600" dirty="0"/>
              <a:t> Step 1: Identify Violation Type</a:t>
            </a:r>
          </a:p>
          <a:p>
            <a:pPr marL="0" indent="0">
              <a:buNone/>
            </a:pPr>
            <a:r>
              <a:rPr lang="en-US" sz="2600" dirty="0"/>
              <a:t> → Happens after insertion or deletion.</a:t>
            </a:r>
          </a:p>
          <a:p>
            <a:pPr marL="0" indent="0">
              <a:buNone/>
            </a:pPr>
            <a:r>
              <a:rPr lang="en-US" sz="2600" dirty="0"/>
              <a:t>→ Check if the parent and uncle nodes are red or black.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Step 2: Fix Cases After Insertion</a:t>
            </a:r>
          </a:p>
          <a:p>
            <a:pPr marL="0" indent="0">
              <a:buNone/>
            </a:pPr>
            <a:r>
              <a:rPr lang="en-US" sz="2600" dirty="0"/>
              <a:t> Case 1 - Uncle is Red:</a:t>
            </a:r>
          </a:p>
          <a:p>
            <a:pPr marL="0" indent="0">
              <a:buNone/>
            </a:pPr>
            <a:r>
              <a:rPr lang="en-US" sz="2600" dirty="0"/>
              <a:t> → Recolor parent and uncle black, grandparent red.</a:t>
            </a:r>
          </a:p>
          <a:p>
            <a:pPr marL="0" indent="0">
              <a:buNone/>
            </a:pPr>
            <a:r>
              <a:rPr lang="en-US" sz="2600" dirty="0"/>
              <a:t> → Move up and recheck.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Case 2 - Uncle is Black (Triangle Case):</a:t>
            </a:r>
          </a:p>
          <a:p>
            <a:pPr marL="0" indent="0">
              <a:buNone/>
            </a:pPr>
            <a:r>
              <a:rPr lang="en-US" sz="2600" dirty="0"/>
              <a:t> → Rotate to make line alignment (e.g., left-right or right-left).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Case 3 - Uncle is Black (Line Case):</a:t>
            </a:r>
          </a:p>
          <a:p>
            <a:pPr marL="0" indent="0">
              <a:buNone/>
            </a:pPr>
            <a:r>
              <a:rPr lang="en-US" sz="2600" dirty="0"/>
              <a:t>→ Rotate grandparent and recolor to restore balance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85470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9FA5FF-3BAC-F264-E2EF-BF00A4C36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908720"/>
            <a:ext cx="9073007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85C2-112E-1A86-CC8D-F383A424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887760"/>
          </a:xfrm>
        </p:spPr>
        <p:txBody>
          <a:bodyPr/>
          <a:lstStyle/>
          <a:p>
            <a:r>
              <a:rPr lang="en-US" dirty="0"/>
              <a:t>Deletion Algorithm in Red-Black Trees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3480-046B-BDCB-C6FB-F650DDFBD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56" y="1484784"/>
            <a:ext cx="11593287" cy="49922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Steps:</a:t>
            </a:r>
          </a:p>
          <a:p>
            <a:pPr marL="0" indent="0">
              <a:buNone/>
            </a:pPr>
            <a:r>
              <a:rPr lang="en-US" dirty="0"/>
              <a:t> 1. Standard BST Delete: </a:t>
            </a:r>
          </a:p>
          <a:p>
            <a:pPr marL="0" indent="0">
              <a:buNone/>
            </a:pPr>
            <a:r>
              <a:rPr lang="en-US" dirty="0"/>
              <a:t>-Perform deletion as in a normal Binary Search Tree (BST).•</a:t>
            </a:r>
          </a:p>
          <a:p>
            <a:pPr marL="0" indent="0">
              <a:buNone/>
            </a:pPr>
            <a:r>
              <a:rPr lang="en-US" dirty="0"/>
              <a:t> - If the deleted node or its replacement is black, it may cause imbalance.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2 . Fix Double-Black or Color Violations:</a:t>
            </a:r>
          </a:p>
          <a:p>
            <a:pPr marL="0" indent="0">
              <a:buNone/>
            </a:pPr>
            <a:r>
              <a:rPr lang="en-US" dirty="0"/>
              <a:t> - When a black node is deleted, a double-black situation may occur.</a:t>
            </a:r>
          </a:p>
          <a:p>
            <a:pPr marL="0" indent="0">
              <a:buNone/>
            </a:pPr>
            <a:r>
              <a:rPr lang="en-US" dirty="0"/>
              <a:t> -Handle by checking sibling colors and performing rotations or recolors.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3. Recolor or Rotate:</a:t>
            </a:r>
          </a:p>
          <a:p>
            <a:pPr marL="0" indent="0">
              <a:buNone/>
            </a:pPr>
            <a:r>
              <a:rPr lang="en-US" dirty="0"/>
              <a:t>- If sibling is red → rotate around parent and recolor.</a:t>
            </a:r>
          </a:p>
          <a:p>
            <a:pPr marL="0" indent="0">
              <a:buNone/>
            </a:pPr>
            <a:r>
              <a:rPr lang="en-US" dirty="0"/>
              <a:t>- If sibling is black → recolor and move double-black 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8243477"/>
      </p:ext>
    </p:extLst>
  </p:cSld>
  <p:clrMapOvr>
    <a:masterClrMapping/>
  </p:clrMapOvr>
  <p:transition spd="slow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F85106-A3E2-27FB-0EF3-4A42553B1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0" y="0"/>
            <a:ext cx="12152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2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44C2-075A-03CC-AF34-4DD7C75D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Insertion Sequence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FC5E-E6EF-4814-BEC0-CBEFC662B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Insertion begins like a normal Binary Search Tree (BST) by comparing values and finding the correct position.</a:t>
            </a:r>
          </a:p>
          <a:p>
            <a:r>
              <a:rPr lang="en-US" dirty="0"/>
              <a:t>Every newly inserted node is initially colored red to avoid unnecessary black-height violations.	</a:t>
            </a:r>
          </a:p>
          <a:p>
            <a:r>
              <a:rPr lang="en-US" dirty="0"/>
              <a:t>After insertion, the tree is checked for violations of Red-Black properties (e.g., red parent).	</a:t>
            </a:r>
          </a:p>
          <a:p>
            <a:r>
              <a:rPr lang="en-US" dirty="0"/>
              <a:t>If violations occur, the fix-up steps (recoloring or rotations) are applied to restore balance.	</a:t>
            </a:r>
          </a:p>
          <a:p>
            <a:r>
              <a:rPr lang="en-US" dirty="0"/>
              <a:t>The process guarantees that the tree remains approximately balanced after every insertion.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31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E074-24B9-85F0-F9C7-F1E2DDC2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Demonstration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89D2F-720B-9579-3064-117327EB7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Recoloring is used when the parent and uncle of the new node are red, flipping colors to maintain properties.	</a:t>
            </a:r>
          </a:p>
          <a:p>
            <a:r>
              <a:rPr lang="en-US" dirty="0"/>
              <a:t>Left rotation is applied when a right-leaning violation occurs to bring the structure back to balanced form.	</a:t>
            </a:r>
          </a:p>
          <a:p>
            <a:r>
              <a:rPr lang="en-US" dirty="0"/>
              <a:t>Right rotation is used when a left-leaning violation occurs to correct imbalance.	</a:t>
            </a:r>
          </a:p>
          <a:p>
            <a:r>
              <a:rPr lang="en-US" dirty="0"/>
              <a:t>Rotations ensure no red node has a red child, maintaining the self-balancing property.</a:t>
            </a:r>
          </a:p>
          <a:p>
            <a:r>
              <a:rPr lang="en-US" dirty="0"/>
              <a:t>The combination of recoloring and rotations ensures consistent O(log n) height.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84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10C854-3B40-39AA-D203-987DD1795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3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07E1-D79A-50FE-EC24-34670030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031776"/>
          </a:xfrm>
        </p:spPr>
        <p:txBody>
          <a:bodyPr/>
          <a:lstStyle/>
          <a:p>
            <a:r>
              <a:rPr lang="en-US" dirty="0"/>
              <a:t>Performance Comparison : BST VS RBT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0E327-1A56-0C5B-F584-0DA6EB66B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BST can become skewed (like a linked list), leading to worst-case O(n) operations.	</a:t>
            </a:r>
          </a:p>
          <a:p>
            <a:r>
              <a:rPr lang="en-US" dirty="0"/>
              <a:t>RBT always maintains balanced height, ensuring O(log n) operations for insert, delete, and search.</a:t>
            </a:r>
          </a:p>
          <a:p>
            <a:r>
              <a:rPr lang="en-US" dirty="0"/>
              <a:t>RBT uses extra color information to preserve structure with minimal overhead.</a:t>
            </a:r>
          </a:p>
          <a:p>
            <a:r>
              <a:rPr lang="en-US" dirty="0"/>
              <a:t>BST performance heavily depends on input order; RBT performance is stable regardless of input order.</a:t>
            </a:r>
          </a:p>
          <a:p>
            <a:r>
              <a:rPr lang="en-US" dirty="0"/>
              <a:t>RBT provides predictable time complexity, making it suitable for real-time and system-level 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829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D398-017C-9A9E-46EA-E38E25DF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Summary, Conclusion &amp; Application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CCE8E-ED05-1F51-0F57-D9CD7367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Red-Black Trees guarantee balanced search performance through structured color rules.</a:t>
            </a:r>
          </a:p>
          <a:p>
            <a:r>
              <a:rPr lang="en-US" dirty="0"/>
              <a:t>They efficiently handle large dynamic datasets that require frequent insertions and deletions.</a:t>
            </a:r>
          </a:p>
          <a:p>
            <a:r>
              <a:rPr lang="en-US" dirty="0"/>
              <a:t>RBTs are widely used in implementing associative containers like maps and sets.</a:t>
            </a:r>
          </a:p>
          <a:p>
            <a:r>
              <a:rPr lang="en-US" dirty="0"/>
              <a:t>Operating systems and databases use RBTs for memory management and indexing.</a:t>
            </a:r>
          </a:p>
          <a:p>
            <a:r>
              <a:rPr lang="en-US" dirty="0"/>
              <a:t>Their reliable worst-case guarantees make them ideal for performance-critical 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658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93</TotalTime>
  <Words>1238</Words>
  <Application>Microsoft Office PowerPoint</Application>
  <PresentationFormat>Custom</PresentationFormat>
  <Paragraphs>126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.AppleSystemUIFont</vt:lpstr>
      <vt:lpstr>Amiri</vt:lpstr>
      <vt:lpstr>Arial</vt:lpstr>
      <vt:lpstr>Bahnschrift</vt:lpstr>
      <vt:lpstr>Calibri</vt:lpstr>
      <vt:lpstr>Corbel</vt:lpstr>
      <vt:lpstr>UICTFontTextStyleBody</vt:lpstr>
      <vt:lpstr>UICTFontTextStyleEmphasizedBody</vt:lpstr>
      <vt:lpstr>Digital Blue Tunnel 16x9</vt:lpstr>
      <vt:lpstr>Red Black Tree Case Study</vt:lpstr>
      <vt:lpstr>What is a Red-Black Tree? </vt:lpstr>
      <vt:lpstr>PowerPoint Presentation</vt:lpstr>
      <vt:lpstr>                Need for Balancing</vt:lpstr>
      <vt:lpstr>Comparison with AVL Tree</vt:lpstr>
      <vt:lpstr>                                             NODES STRUCTURE’S </vt:lpstr>
      <vt:lpstr>PowerPoint Presentation</vt:lpstr>
      <vt:lpstr> Key Properties Of Red Black Tree</vt:lpstr>
      <vt:lpstr>            Black Height Concept</vt:lpstr>
      <vt:lpstr>             Validity of  Red – Black Tree</vt:lpstr>
      <vt:lpstr>           Red-Black Tree Operations</vt:lpstr>
      <vt:lpstr>          Tree Rotations in Red-Black Trees</vt:lpstr>
      <vt:lpstr>PowerPoint Presentation</vt:lpstr>
      <vt:lpstr>       Fixing Violations in Red-Black Trees</vt:lpstr>
      <vt:lpstr>PowerPoint Presentation</vt:lpstr>
      <vt:lpstr>Deletion Algorithm in Red-Black Trees</vt:lpstr>
      <vt:lpstr>PowerPoint Presentation</vt:lpstr>
      <vt:lpstr>Example Insertion Sequence</vt:lpstr>
      <vt:lpstr>Balancing Demonstration</vt:lpstr>
      <vt:lpstr>PowerPoint Presentation</vt:lpstr>
      <vt:lpstr>Performance Comparison : BST VS RBT</vt:lpstr>
      <vt:lpstr>Summary, Conclusion &amp;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 Kalidindi</dc:creator>
  <cp:lastModifiedBy>Neela Kalidindi</cp:lastModifiedBy>
  <cp:revision>2</cp:revision>
  <dcterms:created xsi:type="dcterms:W3CDTF">2025-11-27T18:02:48Z</dcterms:created>
  <dcterms:modified xsi:type="dcterms:W3CDTF">2025-11-29T03:11:37Z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